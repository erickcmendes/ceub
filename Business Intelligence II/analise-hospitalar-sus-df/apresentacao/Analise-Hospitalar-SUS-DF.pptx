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embeddedFontLst>
    <p:embeddedFont>
      <p:font typeface="Poppins ExtraLight"/>
      <p:regular r:id="rId201314"/>
    </p:embeddedFont>
    <p:embeddedFont>
      <p:font typeface="Poppins Thin"/>
      <p:regular r:id="rId201315"/>
    </p:embeddedFont>
    <p:embeddedFont>
      <p:font typeface="Poppins Light"/>
      <p:regular r:id="rId201316"/>
    </p:embeddedFont>
    <p:embeddedFont>
      <p:font typeface="Poppins SemiBold"/>
      <p:regular r:id="rId201317"/>
    </p:embeddedFont>
    <p:embeddedFont>
      <p:font typeface="Poppins Bold"/>
      <p:regular r:id="rId201318"/>
    </p:embeddedFont>
    <p:embeddedFont>
      <p:font typeface="Poppins ExtraBold"/>
      <p:regular r:id="rId201319"/>
    </p:embeddedFont>
    <p:embeddedFont>
      <p:font typeface="Poppins Black"/>
      <p:regular r:id="rId201320"/>
    </p:embeddedFont>
    <p:embeddedFont>
      <p:font typeface="Poppins"/>
      <p:regular r:id="rId201321"/>
    </p:embeddedFont>
    <p:embeddedFont>
      <p:font typeface="Poppins Medium"/>
      <p:regular r:id="rId201322"/>
    </p:embeddedFont>
    <p:embeddedFont>
      <p:font typeface="Roboto Light"/>
      <p:regular r:id="rId201323"/>
    </p:embeddedFont>
    <p:embeddedFont>
      <p:font typeface="Roboto"/>
      <p:regular r:id="rId201324"/>
    </p:embeddedFont>
    <p:embeddedFont>
      <p:font typeface="Roboto Thin"/>
      <p:regular r:id="rId201325"/>
    </p:embeddedFont>
    <p:embeddedFont>
      <p:font typeface="Roboto ExtraLight"/>
      <p:regular r:id="rId201326"/>
    </p:embeddedFont>
    <p:embeddedFont>
      <p:font typeface="Roboto Medium"/>
      <p:regular r:id="rId201327"/>
    </p:embeddedFont>
    <p:embeddedFont>
      <p:font typeface="Roboto SemiBold"/>
      <p:regular r:id="rId201328"/>
    </p:embeddedFont>
    <p:embeddedFont>
      <p:font typeface="Roboto Bold"/>
      <p:regular r:id="rId201329"/>
    </p:embeddedFont>
    <p:embeddedFont>
      <p:font typeface="Roboto ExtraBold"/>
      <p:regular r:id="rId201330"/>
    </p:embeddedFont>
    <p:embeddedFont>
      <p:font typeface="Roboto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hyperlink" Target="https://api3.saude.df.gov.br/dados_csv/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5" Type="http://schemas.openxmlformats.org/officeDocument/2006/relationships/image" Target="../media/image-2-4.png"/><Relationship Id="rId6" Type="http://schemas.openxmlformats.org/officeDocument/2006/relationships/image" Target="../media/image-2-5.svg"/><Relationship Id="rId7" Type="http://schemas.openxmlformats.org/officeDocument/2006/relationships/image" Target="../media/image-2-6.png"/><Relationship Id="rId8" Type="http://schemas.openxmlformats.org/officeDocument/2006/relationships/image" Target="../media/image-2-7.svg"/><Relationship Id="rId9" Type="http://schemas.openxmlformats.org/officeDocument/2006/relationships/image" Target="../media/image-2-8.png"/><Relationship Id="rId10" Type="http://schemas.openxmlformats.org/officeDocument/2006/relationships/image" Target="../media/image-2-9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321891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1690464"/>
            <a:ext cx="494094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Análise Hospitalar SUS-DF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2346052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Painel analítico do desempenho da rede hospitalar do SUS no Distrito Federal (2022–2025): Um instrumento de vigilância qualificada para o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Conselho de Saúde do Distrito Federal (CSDF)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6119" y="3185964"/>
            <a:ext cx="1982986" cy="266402"/>
          </a:xfrm>
          <a:prstGeom prst="roundRect">
            <a:avLst>
              <a:gd name="adj" fmla="val 17880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f2f2f3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1174" y="3228454"/>
            <a:ext cx="227007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BUSINESS INTELLIGENCE II — CEUB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96119" y="3523208"/>
            <a:ext cx="3825925" cy="266402"/>
          </a:xfrm>
          <a:prstGeom prst="roundRect">
            <a:avLst>
              <a:gd name="adj" fmla="val 17880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f2f2f3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1174" y="3565699"/>
            <a:ext cx="411301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ERICK CARDOSO MENDES · LUCAS PATRIOTA MALINSKI DA SILVA PINTO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6170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Dataset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5938" y="1576760"/>
            <a:ext cx="2536924" cy="113846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92947" y="173756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Fonte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3692947" y="2100783"/>
            <a:ext cx="21391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API pública da SES-DF —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u="sng" dirty="0">
                <a:solidFill>
                  <a:srgbClr val="F2F2F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api3.saude.df.gov.br/dados_csv/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15571" y="1576760"/>
            <a:ext cx="2536999" cy="113846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52580" y="173756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Volumetria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352580" y="2100783"/>
            <a:ext cx="21391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985.216 linhas · 26 colunas · jan/2022 a mai/2026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55938" y="2856979"/>
            <a:ext cx="2536924" cy="13652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692947" y="301778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Granularidade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3692947" y="3381003"/>
            <a:ext cx="213910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Uma linha por AIH (Autorização de Internação Hospitalar) na competência mensal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15571" y="2856979"/>
            <a:ext cx="2536999" cy="136527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352580" y="301778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Licença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6352580" y="3381003"/>
            <a:ext cx="21391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Dado público — Lei nº 12.527/2011 (Lei de Acesso à Informação)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392683"/>
            <a:ext cx="5355952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Arquitetura de Modelo — Star Schema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80182" y="870868"/>
            <a:ext cx="7183562" cy="29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Modelagem </a:t>
            </a:r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Ralph Kimball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tabela fato magra (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fato_atendimento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 conectada a sete dimensões por relacionamentos 1:N unidirecionais. Seis colunas de baixa cardinalidade foram consolidadas em </a:t>
            </a:r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Junk Dimension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dim_detalhes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 com ~1.200 combinações reais.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1412" y="1341165"/>
            <a:ext cx="3707457" cy="33237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08836" y="1331640"/>
            <a:ext cx="17585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Surrogate Keys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808836" y="1570732"/>
            <a:ext cx="2359596" cy="802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ID Município: inicia em </a:t>
            </a:r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100</a:t>
            </a:r>
            <a:endParaRPr lang="en-US" sz="800" dirty="0"/>
          </a:p>
          <a:p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ID RA: inicia em </a:t>
            </a:r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200</a:t>
            </a:r>
            <a:endParaRPr lang="en-US" sz="800" dirty="0"/>
          </a:p>
          <a:p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ID Detalhes: inicia em </a:t>
            </a:r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300</a:t>
            </a:r>
            <a:endParaRPr lang="en-US" sz="800" dirty="0"/>
          </a:p>
          <a:p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ID Atendimento: prefixo </a:t>
            </a:r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AT</a:t>
            </a:r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+ inteiro a partir de </a:t>
            </a:r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1000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808836" y="2449488"/>
            <a:ext cx="2205335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Cardinalidade das Tabelas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808836" y="2688580"/>
            <a:ext cx="2359596" cy="1380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fato_atendimento</a:t>
            </a:r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~985k</a:t>
            </a:r>
            <a:endParaRPr lang="en-US" sz="800" dirty="0"/>
          </a:p>
          <a:p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dim_data</a:t>
            </a:r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~60</a:t>
            </a:r>
            <a:endParaRPr lang="en-US" sz="800" dirty="0"/>
          </a:p>
          <a:p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dim_detalhes</a:t>
            </a:r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~1.200</a:t>
            </a:r>
            <a:endParaRPr lang="en-US" sz="800" dirty="0"/>
          </a:p>
          <a:p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dim_estabelecimento</a:t>
            </a:r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~30</a:t>
            </a:r>
            <a:endParaRPr lang="en-US" sz="800" dirty="0"/>
          </a:p>
          <a:p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dim_diagnostico</a:t>
            </a:r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~5.000</a:t>
            </a:r>
            <a:endParaRPr lang="en-US" sz="800" dirty="0"/>
          </a:p>
          <a:p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dim_procedimento</a:t>
            </a:r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~3.000</a:t>
            </a:r>
            <a:endParaRPr lang="en-US" sz="800" dirty="0"/>
          </a:p>
          <a:p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dim_ra_residencia</a:t>
            </a:r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~35</a:t>
            </a:r>
            <a:endParaRPr lang="en-US" sz="800" dirty="0"/>
          </a:p>
          <a:p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dim_municipio_residencia</a:t>
            </a:r>
            <a:pPr algn="l" marL="162560" indent="-16256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~300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9452" y="407268"/>
            <a:ext cx="4358283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Engenharia de Ingestão &amp; CI/CD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209452" y="845716"/>
            <a:ext cx="718222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Modern Data Stack aplicada à automação de dados públicos.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209452" y="1119634"/>
            <a:ext cx="1905744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Automação e Ambiente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209452" y="1338858"/>
            <a:ext cx="3243635" cy="845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13000"/>
              </a:lnSpc>
              <a:buSzPct val="100000"/>
              <a:buChar char="•"/>
            </a:pPr>
            <a:r>
              <a:rPr lang="en-US" sz="7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Orquestração Automática:</a:t>
            </a:r>
            <a:pPr algn="l" marL="152400" indent="-152400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GitHub Actions para agendar e executar o pipeline semanalmente</a:t>
            </a:r>
            <a:endParaRPr lang="en-US" sz="750" dirty="0"/>
          </a:p>
          <a:p>
            <a:pPr algn="l" marL="152400" indent="-152400">
              <a:lnSpc>
                <a:spcPct val="113000"/>
              </a:lnSpc>
              <a:buSzPct val="100000"/>
              <a:buChar char="•"/>
            </a:pPr>
            <a:r>
              <a:rPr lang="en-US" sz="7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Gestão de Ambiente Isolada:</a:t>
            </a:r>
            <a:pPr algn="l" marL="152400" indent="-152400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uso da ferramenta </a:t>
            </a:r>
            <a:pPr algn="l" marL="152400" indent="-152400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uv</a:t>
            </a:r>
            <a:pPr algn="l" marL="152400" indent="-152400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para garantir reprodução exata e rápida do ambiente virtual do Python no runner.</a:t>
            </a:r>
            <a:endParaRPr lang="en-US" sz="750" dirty="0"/>
          </a:p>
          <a:p>
            <a:pPr algn="l" marL="152400" indent="-152400">
              <a:lnSpc>
                <a:spcPct val="113000"/>
              </a:lnSpc>
              <a:buSzPct val="100000"/>
              <a:buChar char="•"/>
            </a:pPr>
            <a:r>
              <a:rPr lang="en-US" sz="7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Engine de Alta Performance:</a:t>
            </a:r>
            <a:pPr algn="l" marL="152400" indent="-152400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migração de Pandas para </a:t>
            </a:r>
            <a:pPr algn="l" marL="152400" indent="-152400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PyArrow</a:t>
            </a:r>
            <a:pPr algn="l" marL="152400" indent="-152400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nativo (C++), reduzindo o consumo de memória RAM e o tempo de execução.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209452" y="2251621"/>
            <a:ext cx="196505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Destino e Fluxo de Dados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09452" y="2470845"/>
            <a:ext cx="3243635" cy="972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13000"/>
              </a:lnSpc>
              <a:buSzPct val="100000"/>
              <a:buChar char="•"/>
            </a:pPr>
            <a:r>
              <a:rPr lang="en-US" sz="7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Destino:</a:t>
            </a:r>
            <a:pPr algn="l" marL="152400" indent="-152400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carregamento estruturado diretamente para </a:t>
            </a:r>
            <a:pPr algn="l" marL="152400" indent="-152400">
              <a:lnSpc>
                <a:spcPct val="113000"/>
              </a:lnSpc>
              <a:buSzPct val="100000"/>
              <a:buChar char="•"/>
            </a:pPr>
            <a:r>
              <a:rPr lang="en-US" sz="7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Azure Data Lake Gen2</a:t>
            </a:r>
            <a:pPr algn="l" marL="152400" indent="-152400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utilizando o protocolo seguro </a:t>
            </a:r>
            <a:pPr algn="l" marL="152400" indent="-152400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abfss://</a:t>
            </a:r>
            <a:pPr algn="l" marL="152400" indent="-152400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en-US" sz="750" dirty="0"/>
          </a:p>
          <a:p>
            <a:pPr algn="l" marL="152400" indent="-152400">
              <a:lnSpc>
                <a:spcPct val="113000"/>
              </a:lnSpc>
              <a:buSzPct val="100000"/>
              <a:buChar char="•"/>
            </a:pPr>
            <a:r>
              <a:rPr lang="en-US" sz="7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Fluxo padronizado:</a:t>
            </a:r>
            <a:pPr algn="l" marL="152400" indent="-152400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extração, transformação e publicação automatizadas em uma esteira reprodutível e auditável.</a:t>
            </a:r>
            <a:endParaRPr lang="en-US" sz="750" dirty="0"/>
          </a:p>
          <a:p>
            <a:pPr algn="l" marL="152400" indent="-152400">
              <a:lnSpc>
                <a:spcPct val="113000"/>
              </a:lnSpc>
              <a:buSzPct val="100000"/>
              <a:buChar char="•"/>
            </a:pPr>
            <a:r>
              <a:rPr lang="en-US" sz="7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Entrega confiável:</a:t>
            </a:r>
            <a:pPr algn="l" marL="152400" indent="-152400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dados organizados para consumo analítico posterior, com governança sobre versionamento lógico, padronização de esquema e atualização incremental</a:t>
            </a:r>
            <a:endParaRPr lang="en-US" sz="7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4755" y="1128043"/>
            <a:ext cx="2025104" cy="35327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92299"/>
            <a:ext cx="54030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Otimização de Performance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1880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Otimização extrema no tráfego e armazenamento de dados.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146846"/>
            <a:ext cx="308037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Compressão Colunar Parquet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510061"/>
            <a:ext cx="390294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Redução de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95%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no tamanho do arquivo final no Data Lake.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Transformação de um CSV bruto de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300MB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em um arquivo Parquet de apenas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14MB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Menor tráfego de rede, menor custo de armazenamento e leitura analítica muito mais eficiente.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2146846"/>
            <a:ext cx="33210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Lógica de Ingestão Idempotente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510061"/>
            <a:ext cx="3902943" cy="169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 script em Python faz uma leitura rápida de metadados no Azure (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nrows=1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 antes de iniciar.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 o ano histórico já existe e não sofreu alterações, o download da API é completamente ignorado.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Apenas os dados do ano corrente (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2026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 são atualizados e o consolidado final é reconstruído em memória via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Zero-Copy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56667"/>
            <a:ext cx="42648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Problema de Negócio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5401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Cenário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117229"/>
            <a:ext cx="3902943" cy="1942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CSDF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(Lei nº 8.142/1990) fiscaliza recursos do SUS no DF com composição paritária: usuários (50%), trabalhadores (25%) e gestores (25%). A leitura plurianual depende hoje de relatórios pontuais da SES-DF, em formatos não comparáveis e sem séries temporais consolidadas.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Este projeto assume o papel de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equipe técnica de BI a serviço do CSDF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construindo um painel permanente de vigilância qualificada.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47605" y="1612255"/>
            <a:ext cx="4107135" cy="2574578"/>
          </a:xfrm>
          <a:prstGeom prst="roundRect">
            <a:avLst>
              <a:gd name="adj" fmla="val 3965"/>
            </a:avLst>
          </a:prstGeom>
          <a:solidFill>
            <a:srgbClr val="F2F2F3"/>
          </a:solidFill>
          <a:ln/>
        </p:spPr>
      </p:sp>
      <p:sp>
        <p:nvSpPr>
          <p:cNvPr id="6" name="Text 4"/>
          <p:cNvSpPr/>
          <p:nvPr/>
        </p:nvSpPr>
        <p:spPr>
          <a:xfrm>
            <a:off x="4789363" y="175401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Pergunta-Âncora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89363" y="2134939"/>
            <a:ext cx="19050" cy="935534"/>
          </a:xfrm>
          <a:prstGeom prst="roundRect">
            <a:avLst>
              <a:gd name="adj" fmla="val 60000"/>
            </a:avLst>
          </a:prstGeom>
          <a:solidFill>
            <a:srgbClr val="F2F2F3"/>
          </a:solidFill>
          <a:ln/>
        </p:spPr>
      </p:sp>
      <p:sp>
        <p:nvSpPr>
          <p:cNvPr id="8" name="Text 6"/>
          <p:cNvSpPr/>
          <p:nvPr/>
        </p:nvSpPr>
        <p:spPr>
          <a:xfrm>
            <a:off x="5001964" y="2262485"/>
            <a:ext cx="361101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 saúde pública hospitalar do DF melhorou ou piorou entre 2022 e 2025? E os gastos públicos, evoluem de forma sustentável?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45865"/>
            <a:ext cx="410892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Perguntas Derivadas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72369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Produção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339578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 volume de internações cresce, estabiliza ou cai?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572369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033067"/>
            <a:ext cx="19913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Qualidade Assistencial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339578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taxa de mortalidade hospitalar está em queda, estável ou em alta?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572369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033067"/>
            <a:ext cx="179040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Eficiência Financeira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339578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 custo médio por internação cresce acima da produção?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076724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53742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Equidade Territorial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96119" y="3843933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Há regiões que pioraram enquanto outras melhoraram?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3076724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72433" y="353742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Resolutividade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272433" y="3843933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rede está deslocando o mix para procedimentos de alta complexidade?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4694"/>
            <a:ext cx="473295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Stakeholders e Personas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51198"/>
            <a:ext cx="1104900" cy="1104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533278"/>
            <a:ext cx="19050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Presidente / Mesa Diretora CSDF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061246"/>
            <a:ext cx="190500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Visão consolidada para reuniões plenárias e imprensa. Consulta mensal.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1251198"/>
            <a:ext cx="1104900" cy="1104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53327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Câmaras Técnicas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2839789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Regulação, Epidemiologia, Controle e Auditoria. Detalhamento por dimensão. Consulta quinzenal.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1251198"/>
            <a:ext cx="1104900" cy="11049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533278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Conselheiros Regionais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3061246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Representação territorial por RA. Consulta conforme demanda.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1251198"/>
            <a:ext cx="1104900" cy="11049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533278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Sociedade Civil, Imprensa, Academia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3061246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Controle social externo e transparência. Consulta pontual.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496119" y="3906515"/>
            <a:ext cx="8151763" cy="552748"/>
          </a:xfrm>
          <a:prstGeom prst="roundRect">
            <a:avLst>
              <a:gd name="adj" fmla="val 10772"/>
            </a:avLst>
          </a:prstGeom>
          <a:solidFill>
            <a:srgbClr val="3D3D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877" y="4107284"/>
            <a:ext cx="177180" cy="14175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56816" y="4069482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SES-DF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figura como entidade auditada, não como consumidora primária.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411435"/>
            <a:ext cx="4336479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Hipóteses Iniciais e Escopo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1643" y="1033388"/>
            <a:ext cx="1904926" cy="1746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6036" y="1111300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53281" y="1497062"/>
            <a:ext cx="1641649" cy="366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H1 — Produção em alta moderada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3281" y="1961108"/>
            <a:ext cx="1641649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Internações crescem moderadamente, possivelmente pelo envelhecimento populacional.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23753" y="1033388"/>
            <a:ext cx="1905000" cy="17460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88221" y="1111300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2655391" y="1497062"/>
            <a:ext cx="1641723" cy="366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H2 — Mortalidade estável ~3%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2655391" y="1961108"/>
            <a:ext cx="1641723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Taxa-baseline de 3,05% sem tendência clara de queda; concentra-se em idosos.</a:t>
            </a:r>
            <a:endParaRPr lang="en-US" sz="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1643" y="2876624"/>
            <a:ext cx="1904926" cy="17460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86036" y="2954536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53281" y="3340298"/>
            <a:ext cx="1641649" cy="366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H3 — Custo unitário em alta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653281" y="3804345"/>
            <a:ext cx="1641649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Valor médio cresce acima da inflação, sinalizando procedimentos mais caros.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23753" y="2876624"/>
            <a:ext cx="1905000" cy="174605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388221" y="2954536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2655391" y="3340298"/>
            <a:ext cx="1641723" cy="366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H4 — Carga do entorno persistente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2655391" y="3804345"/>
            <a:ext cx="1641723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~21% das internações são de pacientes fora do DF, sem reflexo no planejamento territorial.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4719861" y="1021259"/>
            <a:ext cx="19246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Recorte e Escopo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719861" y="1301874"/>
            <a:ext cx="3907110" cy="147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Janela temporal:</a:t>
            </a:r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jan/2022 a dez/2025 (dados de 2026 parciais até maio)</a:t>
            </a:r>
            <a:endParaRPr lang="en-US" sz="900" dirty="0"/>
          </a:p>
          <a:p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Território:</a:t>
            </a:r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rede SUS sediada no DF; entorno como ponto de atenção dedicado</a:t>
            </a:r>
            <a:endParaRPr lang="en-US" sz="900" dirty="0"/>
          </a:p>
          <a:p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Granularidade:</a:t>
            </a:r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competência mensal × estabelecimento × procedimento × CID × perfil demográfico × território</a:t>
            </a:r>
            <a:endParaRPr lang="en-US" sz="900" dirty="0"/>
          </a:p>
          <a:p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Fora do escopo:</a:t>
            </a:r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atenção primária, exames ambulatoriais, listas de espera, dados nominais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8030"/>
            <a:ext cx="3669060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Principais KPIs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062335"/>
            <a:ext cx="86089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 projeto define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11 KPIs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em cinco eixos: produção, qualidade, financeiro, equidade e resolutividade.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6119" y="1389236"/>
            <a:ext cx="8151763" cy="2803327"/>
          </a:xfrm>
          <a:prstGeom prst="roundRect">
            <a:avLst>
              <a:gd name="adj" fmla="val 1925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9469" y="1468562"/>
            <a:ext cx="2235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KPI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64991" y="1468562"/>
            <a:ext cx="2235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Indicador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00513" y="1468562"/>
            <a:ext cx="2235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Baseline (2022–25)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736035" y="1468562"/>
            <a:ext cx="2235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9469" y="1818382"/>
            <a:ext cx="2235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K01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64991" y="1818382"/>
            <a:ext cx="2235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Total de Internações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0513" y="1818382"/>
            <a:ext cx="2235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929 mil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36035" y="1818382"/>
            <a:ext cx="2235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Manter ±5% YoY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9469" y="2168203"/>
            <a:ext cx="2235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K03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64991" y="2168203"/>
            <a:ext cx="2235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Volume Médio Mensal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0513" y="2168203"/>
            <a:ext cx="2235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~19,3 mil/mês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36035" y="2168203"/>
            <a:ext cx="2235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Manter ±5% YoY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9469" y="2518023"/>
            <a:ext cx="2235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K04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64991" y="2518023"/>
            <a:ext cx="2235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Taxa de Mortalidade Hospitalar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0513" y="2518023"/>
            <a:ext cx="2235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3,05%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36035" y="2518023"/>
            <a:ext cx="2235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≤ 3,00%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9469" y="2867844"/>
            <a:ext cx="2235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K07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64991" y="2867844"/>
            <a:ext cx="2235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Custo Médio por Internação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0513" y="2867844"/>
            <a:ext cx="2235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~R$ 1.516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36035" y="2867844"/>
            <a:ext cx="2235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Crescimento YoY ≤ 5%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9469" y="3217664"/>
            <a:ext cx="2235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K09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64991" y="3217664"/>
            <a:ext cx="2235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Valor Total Investido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0513" y="3217664"/>
            <a:ext cx="2235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R$ 1,41 bi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36035" y="3217664"/>
            <a:ext cx="2235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Crescimento real ≤ 5% a.a.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9469" y="3567485"/>
            <a:ext cx="2235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K13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64991" y="3567485"/>
            <a:ext cx="2235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Tempo Médio de Permanência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0513" y="3567485"/>
            <a:ext cx="2235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Calculável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36035" y="3567485"/>
            <a:ext cx="2235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Reduzir 5% vs 2024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9469" y="3917305"/>
            <a:ext cx="2235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K14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664991" y="3917305"/>
            <a:ext cx="2235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Taxa de Uso de UTI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00513" y="3917305"/>
            <a:ext cx="2235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Calculável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36035" y="3917305"/>
            <a:ext cx="2235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Monitorar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6119" y="4323531"/>
            <a:ext cx="815176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KPIs adicionais nas páginas temáticas: Mortalidade Infantil (K15), Mortalidade Idosos (K16), Cobertura RA Mapeada (K10), Concentração por Hospital (K11).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66180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OKRs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2121768"/>
            <a:ext cx="4107135" cy="1555552"/>
          </a:xfrm>
          <a:prstGeom prst="roundRect">
            <a:avLst>
              <a:gd name="adj" fmla="val 6562"/>
            </a:avLst>
          </a:prstGeom>
          <a:solidFill>
            <a:srgbClr val="F2F2F3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2263527"/>
            <a:ext cx="382361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O1 — Manter a mortalidade hospitalar do SUS-DF sob controle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848198"/>
            <a:ext cx="3823618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Manter mortalidade global ≤ 3,00% até Dez/2026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Reduzir mortalidade em idosos 60+ em 5% vs P. Anteiror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Reduzir mortalidade infantil em 10% vs P. Anterior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2263527"/>
            <a:ext cx="390294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O2 — Garantir sustentabilidade fiscal da rede hospitalar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848198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Manter crescimento YoY do custo médio ≤ 5%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Reduzir tempo médio de permanência em 5% vs P. Anteiror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Manter valor total investido com crescimento real ≤ 5% a.a.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58921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Row-Level Security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1244798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 modelo expõe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 papéis RLS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simulando o organograma do CSDF, com filtros DAX aplicados por Região de Saúde e RA de residência.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1857896"/>
            <a:ext cx="2290465" cy="1728267"/>
          </a:xfrm>
          <a:prstGeom prst="roundRect">
            <a:avLst>
              <a:gd name="adj" fmla="val 3445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2640" y="2004417"/>
            <a:ext cx="199742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Presidente / Mesa Diretora CSDF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2640" y="2532385"/>
            <a:ext cx="1997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Visão total — sem restrições de filtro.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8342" y="1857896"/>
            <a:ext cx="2290539" cy="1728267"/>
          </a:xfrm>
          <a:prstGeom prst="roundRect">
            <a:avLst>
              <a:gd name="adj" fmla="val 3445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74863" y="2004417"/>
            <a:ext cx="199749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7 Câmaras Técnicas Regionais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074863" y="2532385"/>
            <a:ext cx="199749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Central, Centro-Sul, Leste, Norte, Oeste, Sudoeste e Sul — filtradas por Região de Saúde do estabelecimento.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6119" y="3727921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2640" y="3874443"/>
            <a:ext cx="310596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Conselheiro Regional — Plano Piloto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42640" y="4180954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Filtrado pela RA de residência do paciente.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2F2F3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2026-06-23T02:02:31Z</dcterms:created>
  <dcterms:modified xsi:type="dcterms:W3CDTF">2026-06-23T02:02:31Z</dcterms:modified>
</cp:coreProperties>
</file>